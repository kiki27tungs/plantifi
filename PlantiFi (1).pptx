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11"/>
      <p:bold r:id="rId12"/>
      <p:italic r:id="rId13"/>
      <p:boldItalic r:id="rId14"/>
    </p:embeddedFont>
    <p:embeddedFont>
      <p:font typeface="Lustria" panose="020B0604020202020204" charset="0"/>
      <p:regular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40">
          <p15:clr>
            <a:srgbClr val="A4A3A4"/>
          </p15:clr>
        </p15:guide>
        <p15:guide id="2" pos="144">
          <p15:clr>
            <a:srgbClr val="A4A3A4"/>
          </p15:clr>
        </p15:guide>
        <p15:guide id="3" orient="horz" pos="684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hPFmmU5NzdJFDYvyw8qQiC2s+D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62"/>
      </p:cViewPr>
      <p:guideLst>
        <p:guide orient="horz" pos="540"/>
        <p:guide pos="144"/>
        <p:guide orient="horz" pos="6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pilotstudio.microsoft.com/environments/Default-ad06ef22-d6dc-4a55-b4c1-c3a158f5f147/bots/cr78b_agent1_Swppt5/canvas?__version__=2&amp;enableFileAttachment=true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" name="Google Shape;22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" name="Google Shape;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" name="Google Shape;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demo showcases an AI-powered platform that provides NSTI trainees with: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/>
              <a:t>Instant query support through AI chatbot</a:t>
            </a:r>
            <a:endParaRPr/>
          </a:p>
          <a:p>
            <a:pPr marL="108585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/>
              <a:t>Personalized study material recommendations</a:t>
            </a:r>
            <a:endParaRPr/>
          </a:p>
          <a:p>
            <a:pPr marL="108585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/>
              <a:t>Step-by-step problem-solving assistance</a:t>
            </a:r>
            <a:endParaRPr/>
          </a:p>
          <a:p>
            <a:pPr marL="108585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/>
              <a:t>Real-time progress tracking and analytics</a:t>
            </a:r>
            <a:endParaRPr/>
          </a:p>
          <a:p>
            <a:pPr marL="108585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/>
              <a:t>It ensures 24/7 academic support and enhances the overall learning experience</a:t>
            </a:r>
            <a:r>
              <a:rPr lang="en-US" b="1"/>
              <a:t>.</a:t>
            </a:r>
            <a:endParaRPr/>
          </a:p>
          <a:p>
            <a:pPr marL="1085850" lvl="1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b="1"/>
          </a:p>
          <a:p>
            <a:pPr marL="9144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AI-powered NSTI Study Resource Helper provides verified study materials, understands trainee queries, adapts to learning styles, and updates content based on performance, ensuring personalized and effective skill-based education.</a:t>
            </a:r>
            <a:endParaRPr/>
          </a:p>
          <a:p>
            <a:pPr marL="9144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9144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Demo website - NSTI Study Resource Helper | Microsoft Copilot Studio</a:t>
            </a:r>
            <a:endParaRPr/>
          </a:p>
          <a:p>
            <a:pPr marL="9144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" name="Google Shape;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" name="Google Shape;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8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>
                <a:solidFill>
                  <a:srgbClr val="213163"/>
                </a:solidFill>
              </a:rPr>
              <a:t>Reference</a:t>
            </a:r>
            <a:endParaRPr sz="2000"/>
          </a:p>
          <a:p>
            <a:pPr marL="173736" lvl="0" indent="-10388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2000"/>
          </a:p>
          <a:p>
            <a:pPr marL="173736" lvl="0" indent="-17373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2000"/>
              <a:t>These are the references for this session.</a:t>
            </a: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8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0"/>
          <p:cNvSpPr txBox="1"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/>
          <p:nvPr/>
        </p:nvSpPr>
        <p:spPr>
          <a:xfrm>
            <a:off x="0" y="-2072"/>
            <a:ext cx="7419703" cy="467289"/>
          </a:xfrm>
          <a:prstGeom prst="rect">
            <a:avLst/>
          </a:prstGeom>
          <a:solidFill>
            <a:srgbClr val="223366"/>
          </a:solidFill>
          <a:ln w="25400" cap="flat" cmpd="sng">
            <a:solidFill>
              <a:srgbClr val="223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7;p9" descr="A blue background with white dots and lines&#10;&#10;AI-generated content may be incorrect."/>
          <p:cNvPicPr preferRelativeResize="0"/>
          <p:nvPr/>
        </p:nvPicPr>
        <p:blipFill rotWithShape="1">
          <a:blip r:embed="rId6">
            <a:alphaModFix amt="50000"/>
          </a:blip>
          <a:srcRect t="91136" r="18856"/>
          <a:stretch/>
        </p:blipFill>
        <p:spPr>
          <a:xfrm>
            <a:off x="0" y="0"/>
            <a:ext cx="7419703" cy="476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1893" y="75248"/>
            <a:ext cx="1245494" cy="40508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9"/>
          <p:cNvSpPr/>
          <p:nvPr/>
        </p:nvSpPr>
        <p:spPr>
          <a:xfrm>
            <a:off x="0" y="4972594"/>
            <a:ext cx="9144000" cy="170906"/>
          </a:xfrm>
          <a:prstGeom prst="rect">
            <a:avLst/>
          </a:prstGeom>
          <a:solidFill>
            <a:srgbClr val="01A4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hyperlink" Target="https://github.com/Kiki27tungs/PLantiFi.gi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" descr="A blue background with white dots and line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/>
        </p:nvSpPr>
        <p:spPr>
          <a:xfrm>
            <a:off x="1459471" y="2177742"/>
            <a:ext cx="63177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AI Farmer Assistant</a:t>
            </a:r>
            <a:endParaRPr sz="3500" b="1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6" name="Google Shape;26;p1"/>
          <p:cNvGrpSpPr/>
          <p:nvPr/>
        </p:nvGrpSpPr>
        <p:grpSpPr>
          <a:xfrm>
            <a:off x="1684315" y="3294525"/>
            <a:ext cx="3952956" cy="1360250"/>
            <a:chOff x="1794464" y="2984568"/>
            <a:chExt cx="3952956" cy="1360250"/>
          </a:xfrm>
        </p:grpSpPr>
        <p:sp>
          <p:nvSpPr>
            <p:cNvPr id="27" name="Google Shape;27;p1"/>
            <p:cNvSpPr txBox="1"/>
            <p:nvPr/>
          </p:nvSpPr>
          <p:spPr>
            <a:xfrm>
              <a:off x="2197149" y="2984568"/>
              <a:ext cx="16404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Team Members</a:t>
              </a:r>
              <a:endParaRPr/>
            </a:p>
          </p:txBody>
        </p:sp>
        <p:sp>
          <p:nvSpPr>
            <p:cNvPr id="28" name="Google Shape;28;p1"/>
            <p:cNvSpPr txBox="1"/>
            <p:nvPr/>
          </p:nvSpPr>
          <p:spPr>
            <a:xfrm>
              <a:off x="1794464" y="3436718"/>
              <a:ext cx="3508800" cy="9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57200" lvl="0" indent="-30480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AutoNum type="arabicPeriod"/>
              </a:pPr>
              <a:r>
                <a:rPr lang="en-US" sz="1200">
                  <a:solidFill>
                    <a:schemeClr val="lt1"/>
                  </a:solidFill>
                </a:rPr>
                <a:t>Florence C Tungoe</a:t>
              </a:r>
              <a:endParaRPr sz="1200">
                <a:solidFill>
                  <a:schemeClr val="lt1"/>
                </a:solidFill>
              </a:endParaRPr>
            </a:p>
            <a:p>
              <a:pPr marL="457200" lvl="0" indent="-304800" algn="l" rtl="0"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AutoNum type="arabicPeriod"/>
              </a:pPr>
              <a:r>
                <a:rPr lang="en-US" sz="1200">
                  <a:solidFill>
                    <a:schemeClr val="lt1"/>
                  </a:solidFill>
                </a:rPr>
                <a:t>Anne Marie Rai</a:t>
              </a:r>
              <a:endParaRPr sz="1200">
                <a:solidFill>
                  <a:schemeClr val="lt1"/>
                </a:solidFill>
              </a:endParaRPr>
            </a:p>
            <a:p>
              <a:pPr marL="457200" lvl="0" indent="-304800" algn="l" rtl="0"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AutoNum type="arabicPeriod"/>
              </a:pPr>
              <a:r>
                <a:rPr lang="en-US" sz="1200">
                  <a:solidFill>
                    <a:schemeClr val="lt1"/>
                  </a:solidFill>
                </a:rPr>
                <a:t>Dishari Dutta Chowdhury</a:t>
              </a:r>
              <a:endParaRPr sz="1200">
                <a:solidFill>
                  <a:schemeClr val="lt1"/>
                </a:solidFill>
              </a:endParaRPr>
            </a:p>
            <a:p>
              <a:pPr marL="457200" lvl="0" indent="-304800" algn="l" rtl="0"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AutoNum type="arabicPeriod"/>
              </a:pPr>
              <a:r>
                <a:rPr lang="en-US" sz="1200">
                  <a:solidFill>
                    <a:schemeClr val="lt1"/>
                  </a:solidFill>
                </a:rPr>
                <a:t>Kakali Sarkar</a:t>
              </a:r>
              <a:endParaRPr sz="1200">
                <a:solidFill>
                  <a:schemeClr val="lt1"/>
                </a:solidFill>
              </a:endParaRPr>
            </a:p>
          </p:txBody>
        </p:sp>
        <p:cxnSp>
          <p:nvCxnSpPr>
            <p:cNvPr id="29" name="Google Shape;29;p1"/>
            <p:cNvCxnSpPr/>
            <p:nvPr/>
          </p:nvCxnSpPr>
          <p:spPr>
            <a:xfrm>
              <a:off x="1880720" y="3373009"/>
              <a:ext cx="3866700" cy="0"/>
            </a:xfrm>
            <a:prstGeom prst="straightConnector1">
              <a:avLst/>
            </a:prstGeom>
            <a:noFill/>
            <a:ln w="9525" cap="flat" cmpd="sng">
              <a:solidFill>
                <a:srgbClr val="E5EEFF"/>
              </a:solidFill>
              <a:prstDash val="lgDashDot"/>
              <a:round/>
              <a:headEnd type="none" w="sm" len="sm"/>
              <a:tailEnd type="none" w="sm" len="sm"/>
            </a:ln>
          </p:spPr>
        </p:cxnSp>
      </p:grpSp>
      <p:grpSp>
        <p:nvGrpSpPr>
          <p:cNvPr id="30" name="Google Shape;30;p1"/>
          <p:cNvGrpSpPr/>
          <p:nvPr/>
        </p:nvGrpSpPr>
        <p:grpSpPr>
          <a:xfrm>
            <a:off x="2249214" y="625056"/>
            <a:ext cx="4645572" cy="1018529"/>
            <a:chOff x="2249214" y="663671"/>
            <a:chExt cx="4645572" cy="1018529"/>
          </a:xfrm>
        </p:grpSpPr>
        <p:sp>
          <p:nvSpPr>
            <p:cNvPr id="31" name="Google Shape;31;p1"/>
            <p:cNvSpPr/>
            <p:nvPr/>
          </p:nvSpPr>
          <p:spPr>
            <a:xfrm>
              <a:off x="2249214" y="663671"/>
              <a:ext cx="4645572" cy="1018529"/>
            </a:xfrm>
            <a:prstGeom prst="roundRect">
              <a:avLst>
                <a:gd name="adj" fmla="val 8142"/>
              </a:avLst>
            </a:prstGeom>
            <a:solidFill>
              <a:srgbClr val="E5EE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" name="Google Shape;32;p1"/>
            <p:cNvCxnSpPr/>
            <p:nvPr/>
          </p:nvCxnSpPr>
          <p:spPr>
            <a:xfrm>
              <a:off x="5442386" y="998292"/>
              <a:ext cx="0" cy="39300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33" name="Google Shape;33;p1" descr="A close up of a sign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25657" y="983131"/>
              <a:ext cx="1055691" cy="3529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Google Shape;34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95146" y="998292"/>
              <a:ext cx="1271915" cy="32960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" name="Google Shape;35;p1"/>
            <p:cNvCxnSpPr/>
            <p:nvPr/>
          </p:nvCxnSpPr>
          <p:spPr>
            <a:xfrm>
              <a:off x="3937435" y="985471"/>
              <a:ext cx="0" cy="39300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36" name="Google Shape;36;p1" descr="A logo with tools in a circle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297904" y="818835"/>
              <a:ext cx="784014" cy="78579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 txBox="1">
            <a:spLocks noGrp="1"/>
          </p:cNvSpPr>
          <p:nvPr>
            <p:ph type="title"/>
          </p:nvPr>
        </p:nvSpPr>
        <p:spPr>
          <a:xfrm>
            <a:off x="131300" y="628031"/>
            <a:ext cx="8520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16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Problem </a:t>
            </a:r>
            <a:r>
              <a:rPr lang="en-US" sz="1600" b="1">
                <a:solidFill>
                  <a:srgbClr val="002060"/>
                </a:solidFill>
              </a:rPr>
              <a:t>Statement</a:t>
            </a:r>
            <a:endParaRPr sz="1600" b="1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139767" y="1071362"/>
            <a:ext cx="4432200" cy="19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Many farmers face significant barriers, including low literacy, limited access to expert agricultural advice, and a lack of appropriate digital tools. Furthermore, existing digital solutions are often too complex for this user base or are dependent on a stable internet connection, which is not always available in rural areas.</a:t>
            </a:r>
            <a:endParaRPr>
              <a:solidFill>
                <a:schemeClr val="dk1"/>
              </a:solidFill>
            </a:endParaRPr>
          </a:p>
          <a:p>
            <a:pPr marL="228600" marR="0" lvl="0" indent="-1397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pSp>
        <p:nvGrpSpPr>
          <p:cNvPr id="43" name="Google Shape;43;p2"/>
          <p:cNvGrpSpPr/>
          <p:nvPr/>
        </p:nvGrpSpPr>
        <p:grpSpPr>
          <a:xfrm>
            <a:off x="-79" y="4446275"/>
            <a:ext cx="9144000" cy="307800"/>
            <a:chOff x="-79" y="4446275"/>
            <a:chExt cx="9144000" cy="307800"/>
          </a:xfrm>
        </p:grpSpPr>
        <p:sp>
          <p:nvSpPr>
            <p:cNvPr id="44" name="Google Shape;44;p2"/>
            <p:cNvSpPr txBox="1"/>
            <p:nvPr/>
          </p:nvSpPr>
          <p:spPr>
            <a:xfrm>
              <a:off x="4213721" y="4446275"/>
              <a:ext cx="663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5" name="Google Shape;45;p2"/>
            <p:cNvCxnSpPr>
              <a:endCxn id="44" idx="1"/>
            </p:cNvCxnSpPr>
            <p:nvPr/>
          </p:nvCxnSpPr>
          <p:spPr>
            <a:xfrm rot="10800000" flipH="1">
              <a:off x="-79" y="4600175"/>
              <a:ext cx="4213800" cy="19500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" name="Google Shape;46;p2"/>
            <p:cNvCxnSpPr>
              <a:stCxn id="44" idx="3"/>
            </p:cNvCxnSpPr>
            <p:nvPr/>
          </p:nvCxnSpPr>
          <p:spPr>
            <a:xfrm>
              <a:off x="4877621" y="4600175"/>
              <a:ext cx="4266300" cy="19500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7" name="Google Shape;47;p2"/>
          <p:cNvPicPr preferRelativeResize="0"/>
          <p:nvPr/>
        </p:nvPicPr>
        <p:blipFill rotWithShape="1">
          <a:blip r:embed="rId3">
            <a:alphaModFix/>
          </a:blip>
          <a:srcRect t="14378" b="14371"/>
          <a:stretch/>
        </p:blipFill>
        <p:spPr>
          <a:xfrm>
            <a:off x="4809750" y="1009275"/>
            <a:ext cx="3762400" cy="2781201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 txBox="1">
            <a:spLocks noGrp="1"/>
          </p:cNvSpPr>
          <p:nvPr>
            <p:ph type="title"/>
          </p:nvPr>
        </p:nvSpPr>
        <p:spPr>
          <a:xfrm>
            <a:off x="132147" y="618720"/>
            <a:ext cx="85206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16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53" name="Google Shape;53;p3"/>
          <p:cNvSpPr txBox="1"/>
          <p:nvPr/>
        </p:nvSpPr>
        <p:spPr>
          <a:xfrm>
            <a:off x="132533" y="1002519"/>
            <a:ext cx="5090400" cy="289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dirty="0"/>
              <a:t>The proposed AI assistant for farmers is designed to overcome barriers such as low literacy and limited access to expert advice.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dirty="0"/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dirty="0"/>
              <a:t>It will operate offline, making it suitable for rural areas with unreliable internet.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dirty="0"/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dirty="0"/>
              <a:t>The assistant uses Computer Vision to detect crop diseases from images and Natural Language Processing to provide voice-guided advice.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dirty="0"/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dirty="0"/>
              <a:t>It supports both Hindi and English languages and is built using Python and Streamlit.</a:t>
            </a:r>
            <a:endParaRPr dirty="0"/>
          </a:p>
        </p:txBody>
      </p:sp>
      <p:pic>
        <p:nvPicPr>
          <p:cNvPr id="54" name="Google Shape;54;p3" title="WhatsApp Image 2025-07-08 at 10.52.01 AM.jpeg"/>
          <p:cNvPicPr preferRelativeResize="0"/>
          <p:nvPr/>
        </p:nvPicPr>
        <p:blipFill rotWithShape="1">
          <a:blip r:embed="rId3">
            <a:alphaModFix/>
          </a:blip>
          <a:srcRect l="13566" r="13573"/>
          <a:stretch/>
        </p:blipFill>
        <p:spPr>
          <a:xfrm>
            <a:off x="5379878" y="1005551"/>
            <a:ext cx="3361361" cy="3074524"/>
          </a:xfrm>
          <a:prstGeom prst="rect">
            <a:avLst/>
          </a:prstGeom>
          <a:noFill/>
          <a:ln w="38100" cap="rnd" cmpd="dbl">
            <a:solidFill>
              <a:srgbClr val="002060"/>
            </a:solidFill>
            <a:prstDash val="solid"/>
            <a:bevel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 txBox="1">
            <a:spLocks noGrp="1"/>
          </p:cNvSpPr>
          <p:nvPr>
            <p:ph type="title"/>
          </p:nvPr>
        </p:nvSpPr>
        <p:spPr>
          <a:xfrm>
            <a:off x="139767" y="618720"/>
            <a:ext cx="85206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16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Project Demo</a:t>
            </a:r>
            <a:endParaRPr/>
          </a:p>
        </p:txBody>
      </p:sp>
      <p:grpSp>
        <p:nvGrpSpPr>
          <p:cNvPr id="60" name="Google Shape;60;p4"/>
          <p:cNvGrpSpPr/>
          <p:nvPr/>
        </p:nvGrpSpPr>
        <p:grpSpPr>
          <a:xfrm>
            <a:off x="228600" y="550000"/>
            <a:ext cx="8431776" cy="3848500"/>
            <a:chOff x="228600" y="550000"/>
            <a:chExt cx="8431776" cy="3848500"/>
          </a:xfrm>
        </p:grpSpPr>
        <p:sp>
          <p:nvSpPr>
            <p:cNvPr id="61" name="Google Shape;61;p4">
              <a:hlinkClick r:id="rId3"/>
            </p:cNvPr>
            <p:cNvSpPr/>
            <p:nvPr/>
          </p:nvSpPr>
          <p:spPr>
            <a:xfrm>
              <a:off x="228600" y="1641308"/>
              <a:ext cx="5422232" cy="1860884"/>
            </a:xfrm>
            <a:prstGeom prst="roundRect">
              <a:avLst>
                <a:gd name="adj" fmla="val 14943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4"/>
            <p:cNvSpPr txBox="1"/>
            <p:nvPr/>
          </p:nvSpPr>
          <p:spPr>
            <a:xfrm>
              <a:off x="378205" y="2340917"/>
              <a:ext cx="4193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u="sng">
                  <a:solidFill>
                    <a:schemeClr val="hlink"/>
                  </a:solidFill>
                  <a:hlinkClick r:id="rId4"/>
                </a:rPr>
                <a:t>Capstone Project</a:t>
              </a:r>
              <a:endParaRPr/>
            </a:p>
          </p:txBody>
        </p:sp>
        <p:pic>
          <p:nvPicPr>
            <p:cNvPr id="63" name="Google Shape;63;p4" descr="A green rectangle with black background&#10;&#10;AI-generated content may be incorrect."/>
            <p:cNvPicPr preferRelativeResize="0"/>
            <p:nvPr/>
          </p:nvPicPr>
          <p:blipFill rotWithShape="1">
            <a:blip r:embed="rId5">
              <a:alphaModFix amt="29000"/>
            </a:blip>
            <a:srcRect/>
            <a:stretch/>
          </p:blipFill>
          <p:spPr>
            <a:xfrm>
              <a:off x="1318250" y="550000"/>
              <a:ext cx="7342126" cy="384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4" name="Google Shape;64;p4"/>
          <p:cNvGrpSpPr/>
          <p:nvPr/>
        </p:nvGrpSpPr>
        <p:grpSpPr>
          <a:xfrm>
            <a:off x="-79" y="4446275"/>
            <a:ext cx="9144000" cy="471999"/>
            <a:chOff x="-79" y="4446275"/>
            <a:chExt cx="9144000" cy="471999"/>
          </a:xfrm>
        </p:grpSpPr>
        <p:sp>
          <p:nvSpPr>
            <p:cNvPr id="65" name="Google Shape;65;p4"/>
            <p:cNvSpPr txBox="1"/>
            <p:nvPr/>
          </p:nvSpPr>
          <p:spPr>
            <a:xfrm>
              <a:off x="127000" y="4656664"/>
              <a:ext cx="504613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" name="Google Shape;66;p4"/>
            <p:cNvGrpSpPr/>
            <p:nvPr/>
          </p:nvGrpSpPr>
          <p:grpSpPr>
            <a:xfrm>
              <a:off x="-79" y="4446275"/>
              <a:ext cx="9144000" cy="307800"/>
              <a:chOff x="-79" y="4446275"/>
              <a:chExt cx="9144000" cy="307800"/>
            </a:xfrm>
          </p:grpSpPr>
          <p:sp>
            <p:nvSpPr>
              <p:cNvPr id="67" name="Google Shape;67;p4"/>
              <p:cNvSpPr txBox="1"/>
              <p:nvPr/>
            </p:nvSpPr>
            <p:spPr>
              <a:xfrm>
                <a:off x="4213721" y="4446275"/>
                <a:ext cx="6639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8" name="Google Shape;68;p4"/>
              <p:cNvCxnSpPr>
                <a:endCxn id="67" idx="1"/>
              </p:cNvCxnSpPr>
              <p:nvPr/>
            </p:nvCxnSpPr>
            <p:spPr>
              <a:xfrm rot="10800000" flipH="1">
                <a:off x="-79" y="4600175"/>
                <a:ext cx="4213800" cy="19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D8D8D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" name="Google Shape;69;p4"/>
              <p:cNvCxnSpPr>
                <a:stCxn id="67" idx="3"/>
              </p:cNvCxnSpPr>
              <p:nvPr/>
            </p:nvCxnSpPr>
            <p:spPr>
              <a:xfrm>
                <a:off x="4877621" y="4600175"/>
                <a:ext cx="4266300" cy="19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D8D8D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pic>
        <p:nvPicPr>
          <p:cNvPr id="70" name="Google Shape;70;p4" title="WhatsApp Image 2025-07-11 at 4.02.02 PM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8600" y="957235"/>
            <a:ext cx="8686800" cy="3662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 txBox="1"/>
          <p:nvPr/>
        </p:nvSpPr>
        <p:spPr>
          <a:xfrm>
            <a:off x="124178" y="558094"/>
            <a:ext cx="2743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Project Video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AI_Farner_Assistant_Streamlit">
            <a:hlinkClick r:id="" action="ppaction://media"/>
            <a:extLst>
              <a:ext uri="{FF2B5EF4-FFF2-40B4-BE49-F238E27FC236}">
                <a16:creationId xmlns:a16="http://schemas.microsoft.com/office/drawing/2014/main" id="{3330E2C9-4B5E-01A5-83AC-5CCA8CABAAA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4215" b="6023"/>
          <a:stretch>
            <a:fillRect/>
          </a:stretch>
        </p:blipFill>
        <p:spPr>
          <a:xfrm>
            <a:off x="757181" y="896648"/>
            <a:ext cx="7629637" cy="3963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19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>
            <a:spLocks noGrp="1"/>
          </p:cNvSpPr>
          <p:nvPr>
            <p:ph type="title"/>
          </p:nvPr>
        </p:nvSpPr>
        <p:spPr>
          <a:xfrm>
            <a:off x="124527" y="618222"/>
            <a:ext cx="85206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16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122150" y="984413"/>
            <a:ext cx="5022600" cy="377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</a:rPr>
              <a:t>The application's future development focuses on transforming it into a more intelligent and comprehensive agricultural tool. Key enhancements include:</a:t>
            </a:r>
            <a:endParaRPr sz="12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 dirty="0">
                <a:solidFill>
                  <a:schemeClr val="dk1"/>
                </a:solidFill>
              </a:rPr>
              <a:t>Voice-Activated Farming Assistant Multilingual voice interface for hands-free interaction. Offline voice support for low-connectivity regions.</a:t>
            </a:r>
          </a:p>
          <a:p>
            <a:pPr marL="1587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1200" dirty="0">
              <a:solidFill>
                <a:schemeClr val="dk1"/>
              </a:solidFill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 dirty="0">
                <a:solidFill>
                  <a:schemeClr val="dk1"/>
                </a:solidFill>
              </a:rPr>
              <a:t>Soil Health Analyzer Input or sync soil sensor data (pH, nutrients, moisture).Generate tailored soil treatment and crop recommendations.</a:t>
            </a:r>
          </a:p>
          <a:p>
            <a:pPr marL="1587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1200" dirty="0">
              <a:solidFill>
                <a:schemeClr val="dk1"/>
              </a:solidFill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 dirty="0">
                <a:solidFill>
                  <a:schemeClr val="dk1"/>
                </a:solidFill>
              </a:rPr>
              <a:t>Market Price Forecasting Tool Real-time and predictive market data for smarter crop sales. Visual dashboards for price trends and demand analysis.</a:t>
            </a:r>
          </a:p>
          <a:p>
            <a:pPr marL="1587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1200" dirty="0">
              <a:solidFill>
                <a:schemeClr val="dk1"/>
              </a:solidFill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 dirty="0">
                <a:solidFill>
                  <a:schemeClr val="dk1"/>
                </a:solidFill>
              </a:rPr>
              <a:t>Pest &amp; Disease Outbreak Alerts Predict outbreaks using climate data and community reports. Early warnings with eco-friendly control strategies.</a:t>
            </a:r>
          </a:p>
          <a:p>
            <a:pPr marL="1587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1100" dirty="0">
              <a:solidFill>
                <a:schemeClr val="dk1"/>
              </a:solidFill>
            </a:endParaRPr>
          </a:p>
        </p:txBody>
      </p:sp>
      <p:pic>
        <p:nvPicPr>
          <p:cNvPr id="83" name="Google Shape;83;p6"/>
          <p:cNvPicPr preferRelativeResize="0"/>
          <p:nvPr/>
        </p:nvPicPr>
        <p:blipFill rotWithShape="1">
          <a:blip r:embed="rId3">
            <a:alphaModFix/>
          </a:blip>
          <a:srcRect t="9910" b="9910"/>
          <a:stretch/>
        </p:blipFill>
        <p:spPr>
          <a:xfrm>
            <a:off x="5144750" y="1015331"/>
            <a:ext cx="3798528" cy="3108363"/>
          </a:xfrm>
          <a:prstGeom prst="rect">
            <a:avLst/>
          </a:prstGeom>
          <a:noFill/>
          <a:ln w="38100" cap="flat" cmpd="sng">
            <a:solidFill>
              <a:srgbClr val="01A4EF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84" name="Google Shape;84;p6"/>
          <p:cNvGrpSpPr/>
          <p:nvPr/>
        </p:nvGrpSpPr>
        <p:grpSpPr>
          <a:xfrm>
            <a:off x="-79" y="4446275"/>
            <a:ext cx="9144000" cy="471999"/>
            <a:chOff x="-79" y="4446275"/>
            <a:chExt cx="9144000" cy="471999"/>
          </a:xfrm>
        </p:grpSpPr>
        <p:sp>
          <p:nvSpPr>
            <p:cNvPr id="85" name="Google Shape;85;p6"/>
            <p:cNvSpPr txBox="1"/>
            <p:nvPr/>
          </p:nvSpPr>
          <p:spPr>
            <a:xfrm>
              <a:off x="127000" y="4656664"/>
              <a:ext cx="504613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" name="Google Shape;86;p6"/>
            <p:cNvGrpSpPr/>
            <p:nvPr/>
          </p:nvGrpSpPr>
          <p:grpSpPr>
            <a:xfrm>
              <a:off x="-79" y="4446275"/>
              <a:ext cx="9144000" cy="307800"/>
              <a:chOff x="-79" y="4446275"/>
              <a:chExt cx="9144000" cy="307800"/>
            </a:xfrm>
          </p:grpSpPr>
          <p:sp>
            <p:nvSpPr>
              <p:cNvPr id="87" name="Google Shape;87;p6"/>
              <p:cNvSpPr txBox="1"/>
              <p:nvPr/>
            </p:nvSpPr>
            <p:spPr>
              <a:xfrm>
                <a:off x="4213721" y="4446275"/>
                <a:ext cx="6639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88" name="Google Shape;88;p6"/>
              <p:cNvCxnSpPr>
                <a:endCxn id="87" idx="1"/>
              </p:cNvCxnSpPr>
              <p:nvPr/>
            </p:nvCxnSpPr>
            <p:spPr>
              <a:xfrm rot="10800000" flipH="1">
                <a:off x="-79" y="4600175"/>
                <a:ext cx="4213800" cy="19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D8D8D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" name="Google Shape;89;p6"/>
              <p:cNvCxnSpPr>
                <a:stCxn id="87" idx="3"/>
              </p:cNvCxnSpPr>
              <p:nvPr/>
            </p:nvCxnSpPr>
            <p:spPr>
              <a:xfrm>
                <a:off x="4877621" y="4600175"/>
                <a:ext cx="4266300" cy="19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D8D8D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>
            <a:spLocks noGrp="1"/>
          </p:cNvSpPr>
          <p:nvPr>
            <p:ph type="title"/>
          </p:nvPr>
        </p:nvSpPr>
        <p:spPr>
          <a:xfrm>
            <a:off x="139767" y="618720"/>
            <a:ext cx="85206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16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95" name="Google Shape;95;p7"/>
          <p:cNvSpPr txBox="1"/>
          <p:nvPr/>
        </p:nvSpPr>
        <p:spPr>
          <a:xfrm>
            <a:off x="140761" y="1418921"/>
            <a:ext cx="4431300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n-US" dirty="0"/>
              <a:t>The </a:t>
            </a:r>
            <a:r>
              <a:rPr lang="en-US" b="1" dirty="0"/>
              <a:t>AI Farmer Assistant</a:t>
            </a:r>
            <a:r>
              <a:rPr lang="en-US" dirty="0"/>
              <a:t> is a versatile platform built to empower farmers with intelligent support. It offers diagnostic guidance for user-selected plant issues, which is seamlessly translated into English or Hindi and delivered through audio playback. The app also features a crop planting calendar and visually rich statistics on production and resource utilization, bringing together diagnostics, planning, and insights into one accessible and user-friendly interface.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7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61" y="957222"/>
            <a:ext cx="4267140" cy="3374864"/>
          </a:xfrm>
          <a:prstGeom prst="rect">
            <a:avLst/>
          </a:prstGeom>
          <a:noFill/>
          <a:ln w="28575" cap="rnd" cmpd="sng">
            <a:solidFill>
              <a:srgbClr val="2233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8"/>
          <p:cNvGrpSpPr/>
          <p:nvPr/>
        </p:nvGrpSpPr>
        <p:grpSpPr>
          <a:xfrm>
            <a:off x="2259947" y="1974648"/>
            <a:ext cx="4624106" cy="1047674"/>
            <a:chOff x="2006285" y="1974648"/>
            <a:chExt cx="4624106" cy="1047674"/>
          </a:xfrm>
        </p:grpSpPr>
        <p:sp>
          <p:nvSpPr>
            <p:cNvPr id="103" name="Google Shape;103;p8"/>
            <p:cNvSpPr txBox="1"/>
            <p:nvPr/>
          </p:nvSpPr>
          <p:spPr>
            <a:xfrm>
              <a:off x="2006285" y="2132624"/>
              <a:ext cx="3718266" cy="878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0" b="1" i="0" u="none" strike="noStrike" cap="none">
                  <a:solidFill>
                    <a:srgbClr val="1D3C75"/>
                  </a:solidFill>
                  <a:latin typeface="Arial"/>
                  <a:ea typeface="Arial"/>
                  <a:cs typeface="Arial"/>
                  <a:sym typeface="Arial"/>
                </a:rPr>
                <a:t>Thank you!</a:t>
              </a:r>
              <a:endParaRPr/>
            </a:p>
          </p:txBody>
        </p:sp>
        <p:pic>
          <p:nvPicPr>
            <p:cNvPr id="104" name="Google Shape;104;p8" descr="Thumbs up sign with solid fill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82717" y="1974648"/>
              <a:ext cx="1047674" cy="10476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436</Words>
  <Application>Microsoft Office PowerPoint</Application>
  <PresentationFormat>On-screen Show (16:9)</PresentationFormat>
  <Paragraphs>48</Paragraphs>
  <Slides>8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Lustria</vt:lpstr>
      <vt:lpstr>Arial</vt:lpstr>
      <vt:lpstr>Cambria</vt:lpstr>
      <vt:lpstr>Simple Light</vt:lpstr>
      <vt:lpstr>PowerPoint Presentation</vt:lpstr>
      <vt:lpstr>Problem Statement</vt:lpstr>
      <vt:lpstr>Solution</vt:lpstr>
      <vt:lpstr>Project Demo</vt:lpstr>
      <vt:lpstr>PowerPoint Presentation</vt:lpstr>
      <vt:lpstr>Future Scope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Kiki Tungoe</cp:lastModifiedBy>
  <cp:revision>5</cp:revision>
  <dcterms:modified xsi:type="dcterms:W3CDTF">2025-07-14T09:46:20Z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D648FD30-8EBE-4A70-AD85-EEA15555CCA7</vt:lpwstr>
  </property>
  <property fmtid="{D5CDD505-2E9C-101B-9397-08002B2CF9AE}" pid="3" name="ArticulatePath">
    <vt:lpwstr>COZY CABIN HOSTEL</vt:lpwstr>
  </property>
</Properties>
</file>